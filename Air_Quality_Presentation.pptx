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Level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23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234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PM10</c:v>
                  </c:pt>
                  <c:pt idx="1">
                    <c:v>PM2.5</c:v>
                  </c:pt>
                  <c:pt idx="2">
                    <c:v>CO</c:v>
                  </c:pt>
                  <c:pt idx="3">
                    <c:v>NO2</c:v>
                  </c:pt>
                  <c:pt idx="4">
                    <c:v>OZONE</c:v>
                  </c:pt>
                  <c:pt idx="5">
                    <c:v>SO2</c:v>
                  </c:pt>
                  <c:pt idx="6">
                    <c:v>NH3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96.49</c:v>
                </c:pt>
                <c:pt idx="1">
                  <c:v>78.65</c:v>
                </c:pt>
                <c:pt idx="2">
                  <c:v>38.85</c:v>
                </c:pt>
                <c:pt idx="3">
                  <c:v>29.98</c:v>
                </c:pt>
                <c:pt idx="4">
                  <c:v>21.77</c:v>
                </c:pt>
                <c:pt idx="5">
                  <c:v>16.27</c:v>
                </c:pt>
                <c:pt idx="6">
                  <c:v>6.29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Pollution</c:v>
                </c:pt>
              </c:strCache>
            </c:strRef>
          </c:tx>
          <c:spPr>
            <a:solidFill>
              <a:srgbClr val="E05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C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Delhi</c:v>
                  </c:pt>
                  <c:pt idx="1">
                    <c:v>Himachal Pradesh</c:v>
                  </c:pt>
                  <c:pt idx="2">
                    <c:v>Haryana</c:v>
                  </c:pt>
                  <c:pt idx="3">
                    <c:v>Uttar Pradesh</c:v>
                  </c:pt>
                  <c:pt idx="4">
                    <c:v>Madhya Pradesh</c:v>
                  </c:pt>
                  <c:pt idx="5">
                    <c:v>Punjab</c:v>
                  </c:pt>
                  <c:pt idx="6">
                    <c:v>Gujarat</c:v>
                  </c:pt>
                  <c:pt idx="7">
                    <c:v>Odisha</c:v>
                  </c:pt>
                  <c:pt idx="8">
                    <c:v>Rajasthan</c:v>
                  </c:pt>
                  <c:pt idx="9">
                    <c:v>Bihar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73.9</c:v>
                </c:pt>
                <c:pt idx="1">
                  <c:v>64.86</c:v>
                </c:pt>
                <c:pt idx="2">
                  <c:v>50.01</c:v>
                </c:pt>
                <c:pt idx="3">
                  <c:v>46.95</c:v>
                </c:pt>
                <c:pt idx="4">
                  <c:v>46.94</c:v>
                </c:pt>
                <c:pt idx="5">
                  <c:v>46.49</c:v>
                </c:pt>
                <c:pt idx="6">
                  <c:v>43.6</c:v>
                </c:pt>
                <c:pt idx="7">
                  <c:v>40.33</c:v>
                </c:pt>
                <c:pt idx="8">
                  <c:v>39.21</c:v>
                </c:pt>
                <c:pt idx="9">
                  <c:v>39.2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Min</c:v>
                </c:pt>
              </c:strCache>
            </c:strRef>
          </c:tx>
          <c:spPr>
            <a:solidFill>
              <a:srgbClr val="C8E6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PM2.5</c:v>
                  </c:pt>
                  <c:pt idx="1">
                    <c:v>PM10</c:v>
                  </c:pt>
                  <c:pt idx="2">
                    <c:v>OZONE</c:v>
                  </c:pt>
                  <c:pt idx="3">
                    <c:v>CO</c:v>
                  </c:pt>
                  <c:pt idx="4">
                    <c:v>NO2</c:v>
                  </c:pt>
                  <c:pt idx="5">
                    <c:v>SO2</c:v>
                  </c:pt>
                  <c:pt idx="6">
                    <c:v>NH3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31.4</c:v>
                </c:pt>
                <c:pt idx="1">
                  <c:v>51.9</c:v>
                </c:pt>
                <c:pt idx="2">
                  <c:v>12.9</c:v>
                </c:pt>
                <c:pt idx="3">
                  <c:v>21.3</c:v>
                </c:pt>
                <c:pt idx="4">
                  <c:v>16.7</c:v>
                </c:pt>
                <c:pt idx="5">
                  <c:v>10.2</c:v>
                </c:pt>
                <c:pt idx="6">
                  <c:v>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Mean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PM2.5</c:v>
                  </c:pt>
                  <c:pt idx="1">
                    <c:v>PM10</c:v>
                  </c:pt>
                  <c:pt idx="2">
                    <c:v>OZONE</c:v>
                  </c:pt>
                  <c:pt idx="3">
                    <c:v>CO</c:v>
                  </c:pt>
                  <c:pt idx="4">
                    <c:v>NO2</c:v>
                  </c:pt>
                  <c:pt idx="5">
                    <c:v>SO2</c:v>
                  </c:pt>
                  <c:pt idx="6">
                    <c:v>NH3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78.7</c:v>
                </c:pt>
                <c:pt idx="1">
                  <c:v>96.5</c:v>
                </c:pt>
                <c:pt idx="2">
                  <c:v>21.8</c:v>
                </c:pt>
                <c:pt idx="3">
                  <c:v>38.8</c:v>
                </c:pt>
                <c:pt idx="4">
                  <c:v>30</c:v>
                </c:pt>
                <c:pt idx="5">
                  <c:v>16.3</c:v>
                </c:pt>
                <c:pt idx="6">
                  <c:v>6.3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Avg Max</c:v>
                </c:pt>
              </c:strCache>
            </c:strRef>
          </c:tx>
          <c:spPr>
            <a:solidFill>
              <a:srgbClr val="0A23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PM2.5</c:v>
                  </c:pt>
                  <c:pt idx="1">
                    <c:v>PM10</c:v>
                  </c:pt>
                  <c:pt idx="2">
                    <c:v>OZONE</c:v>
                  </c:pt>
                  <c:pt idx="3">
                    <c:v>CO</c:v>
                  </c:pt>
                  <c:pt idx="4">
                    <c:v>NO2</c:v>
                  </c:pt>
                  <c:pt idx="5">
                    <c:v>SO2</c:v>
                  </c:pt>
                  <c:pt idx="6">
                    <c:v>NH3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158.8</c:v>
                </c:pt>
                <c:pt idx="1">
                  <c:v>172.7</c:v>
                </c:pt>
                <c:pt idx="2">
                  <c:v>66.1</c:v>
                </c:pt>
                <c:pt idx="3">
                  <c:v>65.4</c:v>
                </c:pt>
                <c:pt idx="4">
                  <c:v>52.1</c:v>
                </c:pt>
                <c:pt idx="5">
                  <c:v>27.5</c:v>
                </c:pt>
                <c:pt idx="6">
                  <c:v>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Pollution</c:v>
                </c:pt>
              </c:strCache>
            </c:strRef>
          </c:tx>
          <c:spPr>
            <a:solidFill>
              <a:srgbClr val="E05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C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Singrauli (MP)</c:v>
                  </c:pt>
                  <c:pt idx="1">
                    <c:v>Rupnagar (PB)</c:v>
                  </c:pt>
                  <c:pt idx="2">
                    <c:v>Nandesari (GJ)</c:v>
                  </c:pt>
                  <c:pt idx="3">
                    <c:v>Ramanagara (KA)</c:v>
                  </c:pt>
                  <c:pt idx="4">
                    <c:v>Greater Noida (UP)</c:v>
                  </c:pt>
                  <c:pt idx="5">
                    <c:v>Ghaziabad (UP)</c:v>
                  </c:pt>
                  <c:pt idx="6">
                    <c:v>Charkhi Dadri (HR)</c:v>
                  </c:pt>
                  <c:pt idx="7">
                    <c:v>Delhi (DL)</c:v>
                  </c:pt>
                  <c:pt idx="8">
                    <c:v>Bulandshahr (UP)</c:v>
                  </c:pt>
                  <c:pt idx="9">
                    <c:v>Mandideep (MP)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111.67</c:v>
                </c:pt>
                <c:pt idx="1">
                  <c:v>100.25</c:v>
                </c:pt>
                <c:pt idx="2">
                  <c:v>94.5</c:v>
                </c:pt>
                <c:pt idx="3">
                  <c:v>89.2</c:v>
                </c:pt>
                <c:pt idx="4">
                  <c:v>82.93</c:v>
                </c:pt>
                <c:pt idx="5">
                  <c:v>79.5</c:v>
                </c:pt>
                <c:pt idx="6">
                  <c:v>74.67</c:v>
                </c:pt>
                <c:pt idx="7">
                  <c:v>73.9</c:v>
                </c:pt>
                <c:pt idx="8">
                  <c:v>73.71</c:v>
                </c:pt>
                <c:pt idx="9">
                  <c:v>70.14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PM2.5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Chittoor</c:v>
                  </c:pt>
                  <c:pt idx="1">
                    <c:v>Araria</c:v>
                  </c:pt>
                  <c:pt idx="2">
                    <c:v>Arrah</c:v>
                  </c:pt>
                  <c:pt idx="3">
                    <c:v>Bettiah</c:v>
                  </c:pt>
                  <c:pt idx="4">
                    <c:v>Vijayawada</c:v>
                  </c:pt>
                  <c:pt idx="5">
                    <c:v>Motihari</c:v>
                  </c:pt>
                  <c:pt idx="6">
                    <c:v>Muzaffarpur</c:v>
                  </c:pt>
                  <c:pt idx="7">
                    <c:v>Anantapur</c:v>
                  </c:pt>
                  <c:pt idx="8">
                    <c:v>Rajamah.</c:v>
                  </c:pt>
                  <c:pt idx="9">
                    <c:v>Meerut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</c:v>
                </c:pt>
                <c:pt idx="1">
                  <c:v>148</c:v>
                </c:pt>
                <c:pt idx="2">
                  <c:v>87</c:v>
                </c:pt>
                <c:pt idx="3">
                  <c:v>42</c:v>
                </c:pt>
                <c:pt idx="4">
                  <c:v>74</c:v>
                </c:pt>
                <c:pt idx="5">
                  <c:v>89</c:v>
                </c:pt>
                <c:pt idx="6">
                  <c:v>87</c:v>
                </c:pt>
                <c:pt idx="7">
                  <c:v>57</c:v>
                </c:pt>
                <c:pt idx="8">
                  <c:v>25</c:v>
                </c:pt>
                <c:pt idx="9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PM10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Chittoor</c:v>
                  </c:pt>
                  <c:pt idx="1">
                    <c:v>Araria</c:v>
                  </c:pt>
                  <c:pt idx="2">
                    <c:v>Arrah</c:v>
                  </c:pt>
                  <c:pt idx="3">
                    <c:v>Bettiah</c:v>
                  </c:pt>
                  <c:pt idx="4">
                    <c:v>Vijayawada</c:v>
                  </c:pt>
                  <c:pt idx="5">
                    <c:v>Motihari</c:v>
                  </c:pt>
                  <c:pt idx="6">
                    <c:v>Muzaffarpur</c:v>
                  </c:pt>
                  <c:pt idx="7">
                    <c:v>Anantapur</c:v>
                  </c:pt>
                  <c:pt idx="8">
                    <c:v>Rajamah.</c:v>
                  </c:pt>
                  <c:pt idx="9">
                    <c:v>Meerut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57</c:v>
                </c:pt>
                <c:pt idx="1">
                  <c:v>98</c:v>
                </c:pt>
                <c:pt idx="2">
                  <c:v>70</c:v>
                </c:pt>
                <c:pt idx="3">
                  <c:v>50</c:v>
                </c:pt>
                <c:pt idx="4">
                  <c:v>70</c:v>
                </c:pt>
                <c:pt idx="5">
                  <c:v>89</c:v>
                </c:pt>
                <c:pt idx="6">
                  <c:v>111</c:v>
                </c:pt>
                <c:pt idx="7">
                  <c:v>62</c:v>
                </c:pt>
                <c:pt idx="8">
                  <c:v>40</c:v>
                </c:pt>
                <c:pt idx="9">
                  <c:v>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5C5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CO</c:v>
                  </c:pt>
                  <c:pt idx="1">
                    <c:v>NH3</c:v>
                  </c:pt>
                  <c:pt idx="2">
                    <c:v>NO2</c:v>
                  </c:pt>
                  <c:pt idx="3">
                    <c:v>OZONE</c:v>
                  </c:pt>
                  <c:pt idx="4">
                    <c:v>PM10</c:v>
                  </c:pt>
                  <c:pt idx="5">
                    <c:v>PM2.5</c:v>
                  </c:pt>
                  <c:pt idx="6">
                    <c:v>SO2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0.6746</c:v>
                </c:pt>
                <c:pt idx="1">
                  <c:v>0.5524</c:v>
                </c:pt>
                <c:pt idx="2">
                  <c:v>0.6598</c:v>
                </c:pt>
                <c:pt idx="3">
                  <c:v>0.6703</c:v>
                </c:pt>
                <c:pt idx="4">
                  <c:v>0.4687</c:v>
                </c:pt>
                <c:pt idx="5">
                  <c:v>0.1677</c:v>
                </c:pt>
                <c:pt idx="6">
                  <c:v>0.6924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Air Quality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Project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Monitoring Across 31 States · 268 Cities · 7 Pollutants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429000"/>
            <a:ext cx="1920240" cy="1005840"/>
          </a:xfrm>
          <a:prstGeom prst="rect">
            <a:avLst>
              <a:gd name="adj" fmla="val 7273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3,197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3429000"/>
            <a:ext cx="1920240" cy="1005840"/>
          </a:xfrm>
          <a:prstGeom prst="rect">
            <a:avLst>
              <a:gd name="adj" fmla="val 7273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429000"/>
            <a:ext cx="1920240" cy="1005840"/>
          </a:xfrm>
          <a:prstGeom prst="rect">
            <a:avLst>
              <a:gd name="adj" fmla="val 7273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060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3429000"/>
            <a:ext cx="1920240" cy="1005840"/>
          </a:xfrm>
          <a:prstGeom prst="rect">
            <a:avLst>
              <a:gd name="adj" fmla="val 7273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Source: Real-Time Air Quality Monitoring Stations · India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" y="1051560"/>
            <a:ext cx="475488" cy="475488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5727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CSV, parse dates, drop nulls, verify 3,197 clean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6400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4992" y="1051560"/>
            <a:ext cx="475488" cy="475488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13632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15727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objectives covering pollutants, states, cities &amp; correlations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9144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914400"/>
            <a:ext cx="6400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5352" y="1051560"/>
            <a:ext cx="475488" cy="475488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19" name="Text 17"/>
          <p:cNvSpPr/>
          <p:nvPr/>
        </p:nvSpPr>
        <p:spPr>
          <a:xfrm>
            <a:off x="6245352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93992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15727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charts, heatmap, scatter plot — one visual per objective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7889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788920"/>
            <a:ext cx="6400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" y="2926080"/>
            <a:ext cx="475488" cy="475488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33272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" y="344728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PM2.5 avg from min; 80/20 train-test split + CV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7889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788920"/>
            <a:ext cx="6400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Shape 28"/>
          <p:cNvSpPr/>
          <p:nvPr/>
        </p:nvSpPr>
        <p:spPr>
          <a:xfrm>
            <a:off x="3364992" y="2926080"/>
            <a:ext cx="475488" cy="475488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1" name="Text 29"/>
          <p:cNvSpPr/>
          <p:nvPr/>
        </p:nvSpPr>
        <p:spPr>
          <a:xfrm>
            <a:off x="3364992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13632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64992" y="344728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Per-pollutant R² check — CO, SO2, OZONE best performers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Load &amp; Clean Data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9260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Raw Records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8686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3,443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673352"/>
            <a:ext cx="29260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73352"/>
            <a:ext cx="64008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7335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After Cleaning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67335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3,197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2478024"/>
            <a:ext cx="29260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78024"/>
            <a:ext cx="64008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7802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4780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29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" y="3282696"/>
            <a:ext cx="29260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82696"/>
            <a:ext cx="64008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Cities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328269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262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0040" y="4087368"/>
            <a:ext cx="29260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087368"/>
            <a:ext cx="64008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0873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Pollutants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40873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57600" y="8046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188720"/>
          <a:ext cx="5166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7724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country / state / city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Geographic hierarchy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Monitoring station name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last_update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datetime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Timestamp (DD-MM-YYYY HH:MM)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latitude / longitude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Station coordinates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pollutant_id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CO, NH3, NO2, OZONE, PM10, PM2.5, SO2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pollutant_min/max/avg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int/float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Measured concentration values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3657600" y="3657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Key Cleaning Steps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02336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last_update with dayfirst=True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with null pollutant values (246 rows removed)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numeric columns with errors='coerce'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index after cleaning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 ·  National Average Pollution Level per Pollutant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7724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8046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89320" y="1261872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261872"/>
            <a:ext cx="54864" cy="77724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8" name="Text 5"/>
          <p:cNvSpPr/>
          <p:nvPr/>
        </p:nvSpPr>
        <p:spPr>
          <a:xfrm>
            <a:off x="6153912" y="12618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PM10 is the most dangerous — avg 96.5 µg/m³, nearly 2× WHO limits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9320" y="2157984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2157984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6153912" y="215798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PM2.5 at 78.7 µg/m³ poses serious respiratory health risks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3054096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3054096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6153912" y="3054096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NH3 is lowest (6.3) — agricultural emissions relatively controlled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89320" y="3950208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3950208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6153912" y="39502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Particulate matter (PM) dominates pollution profile in India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 ·  Most &amp; Least Polluted States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49808"/>
          <a:ext cx="53035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06440" y="777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🟢  Least Polluted States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170432"/>
          <a:ext cx="3017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Tripura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Sikkim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Puducherry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16.4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Arunachal Pradesh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Nagaland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06440" y="2834640"/>
            <a:ext cx="3017520" cy="2029968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806440" y="2834640"/>
            <a:ext cx="54864" cy="2029968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9" name="Text 5"/>
          <p:cNvSpPr/>
          <p:nvPr/>
        </p:nvSpPr>
        <p:spPr>
          <a:xfrm>
            <a:off x="5971032" y="2907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5C"/>
                </a:solidFill>
              </a:rPr>
              <a:t>Delhi — #1 Most Polluted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71032" y="3273552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5C5C"/>
                </a:solidFill>
              </a:rPr>
              <a:t>73.9 µg/m³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average across all pollutants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Driven by vehicle emissions, construction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dust, and industrial activity.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 ·  Pollutant Spread — Min / Avg / Max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77240"/>
          <a:ext cx="58521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8046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Range = Max − Min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170432"/>
          <a:ext cx="2514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51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Pollutant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PM2.5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127.4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PM10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120.8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OZONE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53.2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44.1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35.4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SO2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17.3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NH3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4.5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09360" y="374904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PM2.5 and PM10 show the widest spread — highest variability across stations, indicating hotspot concentration zones.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 ·  Top 10 Pollution Hotspot Cities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49808"/>
          <a:ext cx="58521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777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City Spotlights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309360" y="1170432"/>
            <a:ext cx="25146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309360" y="1170432"/>
            <a:ext cx="54864" cy="117043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8" name="Text 5"/>
          <p:cNvSpPr/>
          <p:nvPr/>
        </p:nvSpPr>
        <p:spPr>
          <a:xfrm>
            <a:off x="6473952" y="124358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Singrauli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73952" y="1517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Madhya Pradesh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0" y="124358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5C5C"/>
                </a:solidFill>
              </a:rPr>
              <a:t>111.7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73952" y="1764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Heavy coal mining &amp; thermal power plants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309360" y="2468880"/>
            <a:ext cx="25146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09360" y="2468880"/>
            <a:ext cx="54864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25420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Rupnagar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73952" y="2816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Punjab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863840" y="2542032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100.3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473952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Industrial zone + crop burning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09360" y="3767328"/>
            <a:ext cx="25146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09360" y="3767328"/>
            <a:ext cx="54864" cy="1170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6473952" y="38404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Nandesari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73952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Gujarat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863840" y="384048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94.5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473952" y="4361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Chemical &amp; pharmaceutical industries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5  ·  PM2.5 vs PM10 Correlation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7724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804672"/>
            <a:ext cx="3017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06440" y="804672"/>
            <a:ext cx="54864" cy="1508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598932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Pearson r =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8090"/>
                </a:solidFill>
              </a:rPr>
              <a:t>0.60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989320" y="1755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Moderate Positive Correlation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2468880"/>
            <a:ext cx="3017520" cy="548640"/>
          </a:xfrm>
          <a:prstGeom prst="rect">
            <a:avLst/>
          </a:prstGeom>
          <a:solidFill>
            <a:srgbClr val="EDF4F8"/>
          </a:solidFill>
          <a:ln/>
        </p:spPr>
      </p:sp>
      <p:sp>
        <p:nvSpPr>
          <p:cNvPr id="11" name="Text 8"/>
          <p:cNvSpPr/>
          <p:nvPr/>
        </p:nvSpPr>
        <p:spPr>
          <a:xfrm>
            <a:off x="5925312" y="25054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Common Source: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25312" y="27066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Both PM types share emission sources — roads, construction, and industry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06440" y="3108960"/>
            <a:ext cx="30175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925312" y="31455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Not Identical: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25312" y="3346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r=0.60, not 1.0 — fine particles (PM2.5) behave differently from coarse (PM10)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806440" y="3749040"/>
            <a:ext cx="3017520" cy="548640"/>
          </a:xfrm>
          <a:prstGeom prst="rect">
            <a:avLst/>
          </a:prstGeom>
          <a:solidFill>
            <a:srgbClr val="EDF4F8"/>
          </a:solidFill>
          <a:ln/>
        </p:spPr>
      </p:sp>
      <p:sp>
        <p:nvSpPr>
          <p:cNvPr id="17" name="Text 14"/>
          <p:cNvSpPr/>
          <p:nvPr/>
        </p:nvSpPr>
        <p:spPr>
          <a:xfrm>
            <a:off x="5925312" y="3785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Cities Covered: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25312" y="3986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3,764 city-level data points used for correlation analysis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06440" y="4389120"/>
            <a:ext cx="30175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925312" y="4425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Health Impact: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25312" y="46268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PM2.5 penetrates lungs deeper; PM10 affects upper respiratory tract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Linear Regression — PM2.5 Min → PM2.5 Avg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749808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</a:rPr>
              <a:t>Model Equation: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PM2.5_avg  =  0.957 × PM2.5_min  +  47.82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342"/>
                </a:solidFill>
              </a:rPr>
              <a:t>31.41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004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Avg prediction error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69164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69164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RMSE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084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342"/>
                </a:solidFill>
              </a:rPr>
              <a:t>43.84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46888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Root mean sq error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69164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69164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2084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342"/>
                </a:solidFill>
              </a:rPr>
              <a:t>16.8%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1772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Variance explained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69164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69164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CV R²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2084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342"/>
                </a:solidFill>
              </a:rPr>
              <a:t>0.14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6656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5-fold cross-val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3127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PM2.5 Average Projections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93008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PM2.5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Projected Avg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57.4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76.5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86.1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95.7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105.2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143.5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191.4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3337560" y="3127248"/>
            <a:ext cx="5468112" cy="1783080"/>
          </a:xfrm>
          <a:prstGeom prst="rect">
            <a:avLst/>
          </a:prstGeom>
          <a:solidFill>
            <a:srgbClr val="FFF8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337560" y="3127248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3502152" y="32004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Why is R² only 16.8%?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502152" y="356616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The low R² reflects real-world complexity. PM2.5 averages depend on wind, weather,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traffic, and industrial activity — not just the minimum reading. The model still captures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 statistically significant trend: every 1 unit rise in PM2.5 min raises the avg by ~0.96.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Phase 5 shows this model works far better for CO, SO2, and OZONE.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Model Validation — Per-Pollutant R² Comparison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7724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06440" y="804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Full Validation Results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170432"/>
          <a:ext cx="3017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Pollutant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0.67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10.89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NH3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0.55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0.66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9.71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OZONE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0.67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6.92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</a:rPr>
                        <a:t>0.47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25.34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</a:rPr>
                        <a:t>0.17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31.41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0.69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06440" y="3200400"/>
            <a:ext cx="16459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4"/>
          <p:cNvSpPr/>
          <p:nvPr/>
        </p:nvSpPr>
        <p:spPr>
          <a:xfrm>
            <a:off x="6053328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R² ≥ 0.65 — Good fit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806440" y="3639312"/>
            <a:ext cx="164592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6"/>
          <p:cNvSpPr/>
          <p:nvPr/>
        </p:nvSpPr>
        <p:spPr>
          <a:xfrm>
            <a:off x="6053328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R² 0.50–0.65 — Acceptable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06440" y="4078224"/>
            <a:ext cx="164592" cy="25603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2" name="Text 8"/>
          <p:cNvSpPr/>
          <p:nvPr/>
        </p:nvSpPr>
        <p:spPr>
          <a:xfrm>
            <a:off x="6053328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R² &lt; 0.50 — Weak fit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06440" y="4572000"/>
            <a:ext cx="3017520" cy="411480"/>
          </a:xfrm>
          <a:prstGeom prst="rect">
            <a:avLst/>
          </a:prstGeom>
          <a:solidFill>
            <a:srgbClr val="E8F8F2"/>
          </a:solidFill>
          <a:ln/>
        </p:spPr>
      </p:sp>
      <p:sp>
        <p:nvSpPr>
          <p:cNvPr id="14" name="Text 10"/>
          <p:cNvSpPr/>
          <p:nvPr/>
        </p:nvSpPr>
        <p:spPr>
          <a:xfrm>
            <a:off x="5925312" y="4572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SO2, CO &amp; OZONE best predicted by this model ✓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697480" cy="1664208"/>
          </a:xfrm>
          <a:prstGeom prst="rect">
            <a:avLst/>
          </a:prstGeom>
          <a:solidFill>
            <a:srgbClr val="1228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070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1234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Pollution Dominates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71907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PM10 (96.5) and PM2.5 (78.7) are India's most severe pollutants, far exceeding WHO guidelines across states.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097280"/>
            <a:ext cx="2697480" cy="1664208"/>
          </a:xfrm>
          <a:prstGeom prst="rect">
            <a:avLst/>
          </a:prstGeom>
          <a:solidFill>
            <a:srgbClr val="1228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9856" y="12070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419856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68496" y="1234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States at 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9856" y="171907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Delhi, Haryana, and UP face critically high pollution levels — urgent policy action needed in the Indo-Gangetic Plain.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3056" y="1097280"/>
            <a:ext cx="2697480" cy="1664208"/>
          </a:xfrm>
          <a:prstGeom prst="rect">
            <a:avLst/>
          </a:prstGeom>
          <a:solidFill>
            <a:srgbClr val="1228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2070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21424" y="1234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Hotspots Identified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2784" y="171907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Singrauli, Rupnagar, and Nandesari are extreme hotspots driven by coal, chemicals, and heavy industry.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999232"/>
            <a:ext cx="2697480" cy="1664208"/>
          </a:xfrm>
          <a:prstGeom prst="rect">
            <a:avLst/>
          </a:prstGeom>
          <a:solidFill>
            <a:srgbClr val="1228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568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PM Correlation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3621024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PM2.5 and PM10 share common emission sources (r=0.60), but diverge enough to require separate policy treatment.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0128" y="2999232"/>
            <a:ext cx="2697480" cy="1664208"/>
          </a:xfrm>
          <a:prstGeom prst="rect">
            <a:avLst/>
          </a:prstGeom>
          <a:solidFill>
            <a:srgbClr val="1228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19856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3419856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68496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Insights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19856" y="3621024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SO2, CO, and OZONE are well-predicted by min values (R²≈0.67). PM2.5 needs multi-variable modelling.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</a:rPr>
              <a:t>Thank You  ·  India Air Quality Analysis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Air Quality Analysis</dc:title>
  <dc:subject>PptxGenJS Presentation</dc:subject>
  <dc:creator>Air Quality Project</dc:creator>
  <cp:lastModifiedBy>Air Quality Project</cp:lastModifiedBy>
  <cp:revision>1</cp:revision>
  <dcterms:created xsi:type="dcterms:W3CDTF">2026-04-06T05:17:08Z</dcterms:created>
  <dcterms:modified xsi:type="dcterms:W3CDTF">2026-04-06T05:17:08Z</dcterms:modified>
</cp:coreProperties>
</file>